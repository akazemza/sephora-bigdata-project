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837" r:id="rId2"/>
    <p:sldId id="256" r:id="rId3"/>
    <p:sldId id="839" r:id="rId4"/>
    <p:sldId id="840" r:id="rId5"/>
    <p:sldId id="841" r:id="rId6"/>
    <p:sldId id="842" r:id="rId7"/>
    <p:sldId id="843" r:id="rId8"/>
    <p:sldId id="844" r:id="rId9"/>
    <p:sldId id="845" r:id="rId10"/>
    <p:sldId id="846" r:id="rId11"/>
    <p:sldId id="847" r:id="rId12"/>
    <p:sldId id="848" r:id="rId13"/>
    <p:sldId id="849" r:id="rId14"/>
    <p:sldId id="850" r:id="rId15"/>
    <p:sldId id="851" r:id="rId16"/>
    <p:sldId id="852" r:id="rId17"/>
    <p:sldId id="271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838" r:id="rId29"/>
    <p:sldId id="267" r:id="rId30"/>
    <p:sldId id="268" r:id="rId31"/>
    <p:sldId id="269" r:id="rId32"/>
    <p:sldId id="270" r:id="rId33"/>
    <p:sldId id="83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65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5B4F6-F786-4094-9DCD-49E616AAAE33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85A8E-9149-4B14-9E10-F48191AC00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70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4CE1-C0E3-FA7E-B31E-7698BE279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FF02D-3A42-F39F-77FB-19512ADE1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1EEB2-6BE5-5B9A-4262-0DD6E11C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F9635-2463-D087-A521-E2C52AB9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7AC35-553A-B723-9846-24BDDC74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628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98C43-3458-1229-B037-8BDD5339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983E9-8C90-695A-0E6D-99FC1DFD7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732A-16E2-3B71-7512-A6F731B3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BA9D7-C40C-96F2-3C21-AA0FF92D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B0FAB-5152-9E25-9E18-F7F5B007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61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15A1-1FA2-9E98-00F0-98C431E8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77BA1-0163-3A57-0A11-D68FD94EF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911FC-599B-2C79-CE14-1F0EB521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AB5B-0421-C7C4-AA92-8D0FA773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D85C3-ED2E-D14C-53D7-4D22C9E0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511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C066-A3F9-098B-CB24-00252240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F37B-4402-6B47-EA72-73A100C0D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A5E09-71F1-FED0-38F2-44C88410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4B56-E201-4203-B405-01E081F8C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1F722-E58E-ECC4-8901-9D6461C2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7B32B-D50A-C10C-BAF3-C01A4A3B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17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2C1A-3EFC-A096-8383-8D50186F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AE7CD-9580-5584-3CC1-41B95EB8D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46CDC-490C-0B37-5091-9AD74099A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DC2C3-B5CC-D7E1-4F0A-BA5DDDFC9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823E2-4444-8758-9849-96FC43513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AAC9A7-4310-C1E8-11CC-06117042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40C7E-9256-C8B9-DE55-8D6713D0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76CEF-5CE3-C9D6-B1CB-8E4F9226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62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E7E6-AF18-6CDE-EEF9-340592E3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41B22-4A6A-441B-21E7-56FE61FB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456C2-751A-2679-1D3C-50246F6F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88D84-96CF-D9D5-383A-73AE8192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89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FE79F-14AB-6B61-B994-9FA48B51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4FA38-236E-8BEA-2D00-D52D9BB3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67F10-C74F-4973-317B-B7D036B7A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83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09EB-2051-45E0-0D64-1170F6EF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49AF-3ED9-EF76-BB1A-239F8C411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5A7A0-17B2-D9E8-473A-F0A8572ED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A33C7-1A2B-00B6-9B19-B326B830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3789B-1DAA-2C60-0A9B-6CDB7554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A3A6D-5CCD-68BC-7018-FBB6A5EE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133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1ACB-E84D-D451-EC49-7DBF68F4D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04A9D-41CF-E4EE-E060-84D25BAA9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F39EB-D258-6637-18E3-ED046AE89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28C98-BB07-DB5C-88A7-67A3C4B1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630E1-2353-9440-289B-77769A78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2A8EA-033F-EEA5-6BC1-6C18EB80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42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2EC3-35FB-274B-469B-DE600032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4C532-CB80-2867-3CED-B15A45582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CCA17-601A-BFA1-0768-655A1A39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1C3E-1EBE-246E-C2E8-3C12A2E2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A5523-3E81-2ABA-E94B-E9D36939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268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F0335D-4CE5-1958-258A-4E9467E8E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3837A-BCC6-7A71-2A76-4840413C8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FF894-2A51-7D64-11E4-CB5561ED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53E9C-2629-4251-B346-06D350AB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C23D-59DC-4831-3B41-CCE441DB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551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C9A8D-0478-5908-3685-FBBA4230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035F9-0B94-9F8E-B1A0-9BD234FCA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19627-54BA-2BBD-1A5F-CD66C3AFD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8DBB6-D743-4119-B85F-82FF7F983C20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C2B11-2413-CA2A-3ECE-200C513F3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1E96E-ACE9-0DBA-4E8E-4F61282DB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BC850-5F10-4050-B57C-12673AB76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836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697" y="704394"/>
            <a:ext cx="10515600" cy="1668813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Sentiment Analysis of Sephora Product Reviews Using Machine Learning and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66" y="2953205"/>
            <a:ext cx="10515600" cy="2034431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CIND820 – Big Data Analytics Project</a:t>
            </a:r>
          </a:p>
          <a:p>
            <a:pPr marL="0" indent="0" algn="ctr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Student: Argang Kazemzadeh</a:t>
            </a:r>
          </a:p>
          <a:p>
            <a:pPr marL="0" indent="0" algn="ctr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Instructor: Dr.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Ceni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Term: Fall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B6CB0-3A26-F391-B10B-A8012B0DB392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37160"/>
            <a:ext cx="741927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Sephora Review Analysis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097280"/>
            <a:ext cx="6594819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rPr sz="2400"/>
              <a:t>Expanded Technical + Results-Focused Presentation</a:t>
            </a:r>
          </a:p>
          <a:p>
            <a:r>
              <a:t>Argang Kazemzadeh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642374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Project Motivation (Technical Depth)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1" y="914400"/>
            <a:ext cx="10482741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Understand sentiment behavior in high-dimensional cosmetic reviews.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Build interpretable and scalable sentiment models using traditional ML and modern NLP.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Quantify product-attribute effects on user satisfaction (e.g., SPF, fragrance-free).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Identify fairness issues across skin type and skin tone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53144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Dataset Description (Detailed)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1" y="914400"/>
            <a:ext cx="9074023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~50,000 Sephora reviews covering 1,100 products and 120+ brands.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Rich metadata: price, brand, category, feedback counts, timestamps.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User traits: skin type, skin tone, hair &amp; eye color enabling subgroup analysis.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Strong right-skewed rating distribution (majority 4–5 stars).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1" y="45721"/>
            <a:ext cx="49327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Technical 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914400"/>
            <a:ext cx="9156930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Preprocessing: cleaning, tokenization, stopword removal, normalization.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Text features: TF-IDF (bigram, max_features=8000, min_df=5).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Numerical features standardized using Z-score scaling.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Categorical features aggregated via One-Hot Encoding (min_frequency=100).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Unified ColumnTransformer for reproducibility.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44861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Text Vectorization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914400"/>
            <a:ext cx="8905002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TF-IDF bigram captures paired expressions ('highly recommend', 'too oily').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High-dimensional sparse matrix structure ideal for linear models.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n-gram modeling improves sensitivity to local sentiment cues.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Bag-of-words approach avoids heavy GPU requirement.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1" y="45721"/>
            <a:ext cx="54312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Modeling Rationale (Technical)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914400"/>
            <a:ext cx="855285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Logistic Regression: interpretable baseline for sparse text.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Linear SVM: margin-based classifier with strong performance on TF-IDF.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5-fold stratified cross-validation to reduce variance.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Evaluation metrics: Accuracy and Macro-F1 for balanced fairness.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1" y="45721"/>
            <a:ext cx="66995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Binary Classification Results (Detailed)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914400"/>
            <a:ext cx="878317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Logistic Regression — Accuracy: 0.9090, Macro-F1: 0.9090.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Linear SVM — Accuracy: 0.9169, Macro-F1: 0.9169.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SVM consistently generalizes slightly better due to margin maximization.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Results align with literature: SVM outperforms on high-dimensional BOW.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79643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Model Accuracy Comparison (Detailed Figure)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914400"/>
            <a:ext cx="1949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(Insert figure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6865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Macro-F1 Comparison (Detailed Figure)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914400"/>
            <a:ext cx="1949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(Insert figure here)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1" y="45721"/>
            <a:ext cx="94158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Attribute-Level Sentiment Analysis (Deep Explanation)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1" y="914400"/>
            <a:ext cx="1086874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Keywords analyzed: fragrance-free, peptide, vitamin C, niacinamide, retinol, hyaluronic, SPF.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Δ sentiment computed as: mean_present − mean_absent.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Strongest positive lift: fragrance-free (+0.0791), indicating sensitive-skin preference.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SPF shows negative shift (−0.0289), consistent with white cast / texture complaints.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1" y="45721"/>
            <a:ext cx="74664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Ingredient-Level Sentiment Impact (Figure)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914400"/>
            <a:ext cx="1949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(Insert figure here)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54060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Fairness Evaluation (Skin 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914400"/>
            <a:ext cx="753770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Accuracy range: 0.898 (oily) to 0.922 (normal).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Low variance (~2.3%) suggests strong model fairness.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Large sample sizes ensures stability (≥ 200 per group).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Precision/Recall differences remain within acceptable margins.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47069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Skin-Type Fairness (Figure)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914400"/>
            <a:ext cx="1949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(Insert figure here)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54106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Fairness Evaluation (Skin Tone)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914400"/>
            <a:ext cx="643009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Accuracy range: 0.905 (deep) to 0.928 (tan).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No systematic bias detected across tones.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Skin tone groups behave similarly despite imbalance.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Reinforces generalization ability of the linear SVM.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471154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Skin-Tone Fairness (Figure)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914400"/>
            <a:ext cx="1949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(Insert figure here)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324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8320" y="45721"/>
            <a:ext cx="57256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Conclusions (Technical + Results)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914400"/>
            <a:ext cx="8305992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Linear SVM provides strong, reproducible baseline performance.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Sentiment shifts heavily depend on cosmetic-related attributes.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Fairness analysis suggests no demographic performance degradation.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200"/>
              <a:t>• Results support downstream applications: ABSA, recsys, QA testing.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44" y="159494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</a:p>
          <a:p>
            <a:pPr marL="72000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Data Sources (Sephora reviews, product meta)</a:t>
            </a:r>
          </a:p>
          <a:p>
            <a:pPr marL="72000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Data Cleaning &amp; EDA</a:t>
            </a:r>
          </a:p>
          <a:p>
            <a:pPr marL="72000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Feature Engineering</a:t>
            </a:r>
          </a:p>
          <a:p>
            <a:pPr marL="72000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4. Modeling</a:t>
            </a:r>
          </a:p>
          <a:p>
            <a:pPr marL="72000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5. Evaluation</a:t>
            </a:r>
          </a:p>
          <a:p>
            <a:pPr marL="72000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6. Deliverables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A164D-A569-A8A2-5C43-802E0426D13D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216050E-2D7C-F218-EA03-D440BFAD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18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7B9E68-D0BA-04BA-7CD0-9BE4F680AF93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12" y="233850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495" y="1983441"/>
            <a:ext cx="10515600" cy="4351338"/>
          </a:xfrm>
        </p:spPr>
        <p:txBody>
          <a:bodyPr/>
          <a:lstStyle/>
          <a:p>
            <a:pPr lvl="0"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How do sentiment and aspect-level opinions vary across cosmetics categories?</a:t>
            </a:r>
          </a:p>
          <a:p>
            <a:pPr lvl="0"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Which inferred ingredients or product attributes correlate strongly with sentiment?</a:t>
            </a:r>
          </a:p>
          <a:p>
            <a:pPr lvl="0"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Can star ratings be predicted accurately from review text + metadata + user attributes?</a:t>
            </a:r>
            <a:b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572F0-4EF4-FA03-DCA2-5E5170B735FC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99AF179-22A7-C6CB-6A6F-8B4F27B4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19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0FAB68-C709-7113-E3B6-EFB5589D41C1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193" y="198871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692" y="2387530"/>
            <a:ext cx="6105114" cy="1710253"/>
          </a:xfrm>
        </p:spPr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Sephora Reviews Dataset (~50K)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Metadata: brand, price, skin type, tone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Source: Kaggle / Sephora API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AD654-28F0-32C4-E99F-ABC36BF9E97D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5124498-4BDC-405F-115F-DC9BAF37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20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2E836F-18AC-3C0B-BE26-AE75EAD6844B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4FC4FAC-45D2-4D7F-5377-AB43EF9D3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293" y="2025904"/>
            <a:ext cx="4381500" cy="28936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058" y="150745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 Cleaning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14" y="2062489"/>
            <a:ext cx="7190144" cy="4351338"/>
          </a:xfrm>
        </p:spPr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Duplicates removed, missing values handled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Text normalized, numeric features standardized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Outliers detected in price and feedback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18E69-447A-9D07-09C7-191B778B57AB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15096A0-9BC0-C450-285A-FC0DB26D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21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C8B16A-D37E-9726-F056-325DE21DFE99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EF89FD2-6CE5-84F1-CBFB-91EEC67C6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111" y="2418056"/>
            <a:ext cx="4276725" cy="29749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560" y="242622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560" y="2070145"/>
            <a:ext cx="6572612" cy="4351338"/>
          </a:xfrm>
        </p:spPr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/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TF-IDF (8,000 bi-gram features)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Standardized numeric features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One-hot encoding for categorical attributes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Combined into single feature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47B04-18B7-ADDB-554D-CE3258467C5B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810AA07-2010-68F6-163D-6A509092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22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F2FE6D-D599-3C48-C46A-6EDD6DF2F08A}"/>
              </a:ext>
            </a:extLst>
          </p:cNvPr>
          <p:cNvCxnSpPr/>
          <p:nvPr/>
        </p:nvCxnSpPr>
        <p:spPr>
          <a:xfrm>
            <a:off x="325305" y="1380702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9484052-EC25-A60E-68F1-27F88588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172" y="1970161"/>
            <a:ext cx="4816247" cy="37550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12" y="168245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Modeling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814" y="1738625"/>
            <a:ext cx="7002014" cy="4351338"/>
          </a:xfrm>
        </p:spPr>
        <p:txBody>
          <a:bodyPr>
            <a:normAutofit/>
          </a:bodyPr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Models Used:</a:t>
            </a:r>
          </a:p>
          <a:p>
            <a:pPr marL="948600" indent="-4572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Logistic Regression (interpretable baseline)</a:t>
            </a:r>
          </a:p>
          <a:p>
            <a:pPr marL="948600" indent="-4572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Linear SVM (robust with sparse data)</a:t>
            </a:r>
          </a:p>
          <a:p>
            <a:pPr marL="948600" indent="-4572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(transformer-based model)</a:t>
            </a:r>
          </a:p>
          <a:p>
            <a:pPr marL="948600" indent="-4572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Evaluation: 5-fold cross-validation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86856-C2E3-9DAD-E4DA-B6FB110A82E6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95F662A-A8A0-986E-444A-BA2188C6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23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E58A76-D91E-6689-253F-B41AAC6D2ED9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5249DDF-651C-3564-DC55-2B6750E5B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600" y="2018823"/>
            <a:ext cx="4979463" cy="29513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2" y="146369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Model Training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/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Binary and 3-class classification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Metrics: Accuracy, Macro-F1, ROC-AUC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Stratified 5-fold cross-validation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Balanced sampling for fairness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507FD-4176-BB92-DB5E-102C8D37E6DB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94A20A9-5E68-1AC8-84FD-3EDDF224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24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163996-2C0F-FE0C-469B-036181136572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930" y="18255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809" y="1372248"/>
            <a:ext cx="7233896" cy="4351338"/>
          </a:xfrm>
        </p:spPr>
        <p:txBody>
          <a:bodyPr>
            <a:normAutofit/>
          </a:bodyPr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</a:p>
          <a:p>
            <a:pPr marL="948600" indent="-4572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Accuracy: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LogReg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=0.82 | SVM=0.83 |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=0.86</a:t>
            </a:r>
          </a:p>
          <a:p>
            <a:pPr marL="948600" indent="-4572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F1 Score: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LogReg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=0.81 | SVM=0.82 |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=0.85</a:t>
            </a:r>
          </a:p>
          <a:p>
            <a:pPr marL="948600" indent="-4572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ROC-AUC: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LogReg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=0.88 | SVM=0.89 |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=0.90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80546-6FBF-3023-461C-8877CC7AB39D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D05A469-859E-7EB1-8F9A-1DCF2A4D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25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3302A9-656B-27DD-07C3-DF795AD489AB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0663B16-E847-7E53-3F5F-A71D1068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05" y="2129006"/>
            <a:ext cx="4422041" cy="27073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Keyword &amp; Attribute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84" y="1769735"/>
            <a:ext cx="6170741" cy="4351338"/>
          </a:xfrm>
        </p:spPr>
        <p:txBody>
          <a:bodyPr>
            <a:normAutofit/>
          </a:bodyPr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Keywords impacting sentiment:</a:t>
            </a:r>
          </a:p>
          <a:p>
            <a:pPr marL="7200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Fragrance-free</a:t>
            </a:r>
          </a:p>
          <a:p>
            <a:pPr marL="7200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Vitamin C</a:t>
            </a:r>
          </a:p>
          <a:p>
            <a:pPr marL="7200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Retinol</a:t>
            </a:r>
          </a:p>
          <a:p>
            <a:pPr marL="7200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Hyaluronic acid</a:t>
            </a:r>
          </a:p>
          <a:p>
            <a:pPr marL="720000">
              <a:buClr>
                <a:schemeClr val="accent5"/>
              </a:buClr>
              <a:buSzPct val="120000"/>
              <a:buFont typeface="Wingdings" panose="05000000000000000000" pitchFamily="2" charset="2"/>
              <a:buChar char="§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Positive attributes linked to higher ratings</a:t>
            </a:r>
            <a:r>
              <a:rPr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FD25E-6A38-EBDB-5F7B-3B4B48505E7D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8BE6CB0-0427-9281-E0C3-783D1DDB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26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6C6896-069B-4723-1C9A-25A05ACDBB23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BF41BC8-79D7-8936-1882-521D92A62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355" y="2134496"/>
            <a:ext cx="5615916" cy="308064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188" y="185745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Subgroup &amp; Fairness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459" y="2022966"/>
            <a:ext cx="9355829" cy="1748387"/>
          </a:xfrm>
        </p:spPr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Evaluated model accuracy by skin tone and skin type.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No significant bias observed.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Ensures fair performance across demographics.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05915-30A3-E2B5-D466-E2DD2DCD6BC5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0DDAD19-7B6F-DB74-21D0-14023C4C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27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D16E45-9BA8-F2DD-F2A7-77EF1A29E401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443F8-40C5-E3A5-BFAF-69B5A79A2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D9CC-0674-5ACB-5001-ED22985CB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88" y="185745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Subgroup &amp; Fairness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C24BC-13D0-EF66-97F9-91FA9841D73D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AA3543E-8005-AD89-2AED-08FF7474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28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EA914-01EB-62F0-EF72-BA37BD30C770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0027A52-42B9-ABB4-7A9F-DE0281172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806" y="2346033"/>
            <a:ext cx="5843601" cy="2935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18C98C-1819-7B13-CA52-EA1C8B9FD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16" y="2291450"/>
            <a:ext cx="5705150" cy="304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8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TF-IDF + metadata = strong interpretable baseline.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improves contextual understanding (~3% F1 gain).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Sentiment trends consistent across product lines.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68827-DA71-CCC4-5729-A0B2B4FCA71F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D9EDB9A-C2DF-518E-139F-CC673C27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29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86630C-06CC-CE84-E220-5FCDBD7B164E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 limited to English and Sephora platform.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Transformer models require higher computational resources.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Mixed or neutral sentiments difficult to classify.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AC2C8-BA73-CB98-53C9-12872CCA2F57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19375AA-F4B5-962D-1535-F6601B9A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30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1151DA-08F8-E9C7-E87B-918A10B43D49}"/>
              </a:ext>
            </a:extLst>
          </p:cNvPr>
          <p:cNvCxnSpPr/>
          <p:nvPr/>
        </p:nvCxnSpPr>
        <p:spPr>
          <a:xfrm>
            <a:off x="440635" y="1350076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7" y="79048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Recommendations &amp;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Combine TF-IDF and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for hybrid modeling.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Expand dataset (multilingual, ingredient metadata).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Deploy real-time monitoring dashboard.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Regular fairness and bias audits.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862FF-A708-3F8B-80A4-2D363B274B3A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9B74F33-1308-BFB9-CA37-88E4598E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31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9B1189-08E4-2334-01AF-7531CA78B032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17" y="141994"/>
            <a:ext cx="105156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/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outperformed classical models.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Achieved robust accuracy and contextual understanding.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Future work: Aspect-based sentiment, multilingual analysis.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References: scikit-learn, transformers, pandas, matplotlib.</a:t>
            </a:r>
          </a:p>
          <a:p>
            <a:pPr>
              <a:buClr>
                <a:schemeClr val="accent5"/>
              </a:buClr>
              <a:buSzPct val="75000"/>
              <a:buFont typeface="Wingdings" panose="05000000000000000000" pitchFamily="2" charset="2"/>
              <a:buChar char="q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GitHub: github.com/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akazemza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/Sephora-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BigData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6BF17-2F34-314D-EF45-7492C8279054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217652F-0210-C3FD-BA8D-C70FE078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32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776CA2-8EA9-CBCA-E34E-F1A9DC663B07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935" y="121435"/>
            <a:ext cx="10515600" cy="1325563"/>
          </a:xfrm>
        </p:spPr>
        <p:txBody>
          <a:bodyPr/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12" y="1526046"/>
            <a:ext cx="10515600" cy="4729684"/>
          </a:xfrm>
        </p:spPr>
        <p:txBody>
          <a:bodyPr>
            <a:normAutofit fontScale="6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Agarap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A. F. (2018). Statistical Analysis on E-commerce Reviews, Ratings, and Classification using Word2Vec and Deep Learning Techniques. arXiv:1805.03687.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Devlin, J., Chang, M. W., Lee, K., &amp; Toutanova, K. (2019). BERT: Pre-training of Deep Bidirectional Transformers for Language Understanding. NAACL-HLT.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Gajula, R., et al. (2025). A Comprehensive Survey on Sentiment-aware Recommendation Systems in E-commerce. arXiv:2505.03828.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Huang, L., et al. (2020). Weakly-Supervised Aspect-based Sentiment Analysis via Joint Aspect-Sentiment Embedding. arXiv:2010.06705.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Kim, Y. (2014). Convolutional Neural Networks for Sentence Classification. EMNLP.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Park, J., &amp; Kim, S. (2020). The role of ingredients in online cosmetic reviews: An analysis of consumer sentiment. Journal of Retailing and Consumer Services, 55, 102120.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Pontiki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M., et al. (2016). SemEval-2016 Task 5: Aspect-Based Sentiment Analysis.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SemEval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Xu, Y. (2024). Research on Aspect-Sentiment Analysis Model of Commodity Reviews Based on Syntax and Polarity Fusion. arXiv:2412.15610.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Zhang, Y., &amp; Chen, X. (2020). Explainable Recommendation: A Survey and New Perspectives. Foundations and Trends in Information Retrieval, 14(1).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/>
          </a:p>
          <a:p>
            <a:pPr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07A5C-9CA1-42FB-E842-C83DF7BAE763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75F6CB9-25AE-6FBA-D49E-EB122A16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3827"/>
            <a:ext cx="832919" cy="365125"/>
          </a:xfrm>
        </p:spPr>
        <p:txBody>
          <a:bodyPr/>
          <a:lstStyle/>
          <a:p>
            <a:pPr algn="ctr"/>
            <a:fld id="{FFB13594-624C-4CB0-8C38-8DAC75C98377}" type="slidenum">
              <a:rPr lang="en-US" sz="4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33</a:t>
            </a:fld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A0F650-3767-8EE1-E15C-BE27D98B149A}"/>
              </a:ext>
            </a:extLst>
          </p:cNvPr>
          <p:cNvCxnSpPr/>
          <p:nvPr/>
        </p:nvCxnSpPr>
        <p:spPr>
          <a:xfrm>
            <a:off x="320930" y="1293200"/>
            <a:ext cx="10913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3111</TotalTime>
  <Words>1343</Words>
  <Application>Microsoft Office PowerPoint</Application>
  <PresentationFormat>Widescreen</PresentationFormat>
  <Paragraphs>167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Wingdings</vt:lpstr>
      <vt:lpstr>Office Theme</vt:lpstr>
      <vt:lpstr>Sentiment Analysis of Sephora Product Reviews Using Machine Learning and 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Workflow Overview</vt:lpstr>
      <vt:lpstr>Project Objectives</vt:lpstr>
      <vt:lpstr>Data Sources</vt:lpstr>
      <vt:lpstr>Data Cleaning &amp; EDA</vt:lpstr>
      <vt:lpstr>Feature Engineering</vt:lpstr>
      <vt:lpstr>Modeling Framework</vt:lpstr>
      <vt:lpstr>Model Training &amp; Validation</vt:lpstr>
      <vt:lpstr>Results Summary</vt:lpstr>
      <vt:lpstr>Keyword &amp; Attribute Insights</vt:lpstr>
      <vt:lpstr>Subgroup &amp; Fairness Analysis</vt:lpstr>
      <vt:lpstr>Subgroup &amp; Fairness Analysis</vt:lpstr>
      <vt:lpstr>Key Findings</vt:lpstr>
      <vt:lpstr>Limitations</vt:lpstr>
      <vt:lpstr>Recommendations &amp; Resolution</vt:lpstr>
      <vt:lpstr>Conclusion &amp; 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Argang Kazemzadeh</dc:creator>
  <cp:lastModifiedBy>Argang Kazemzadeh</cp:lastModifiedBy>
  <cp:revision>64</cp:revision>
  <dcterms:created xsi:type="dcterms:W3CDTF">2025-09-02T18:35:39Z</dcterms:created>
  <dcterms:modified xsi:type="dcterms:W3CDTF">2025-11-23T18:53:09Z</dcterms:modified>
</cp:coreProperties>
</file>